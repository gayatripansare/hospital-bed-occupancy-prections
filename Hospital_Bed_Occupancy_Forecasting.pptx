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2926080" cy="36576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6D28D9"/>
                </a:solidFill>
              </a:defRPr>
            </a:pPr>
            <a:r>
              <a:t>CAREPULSE ANALYTICS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0F172A"/>
                </a:solidFill>
              </a:defRPr>
            </a:pPr>
            <a:r>
              <a:t>Hospital Bed Occupancy Forecasting System</a:t>
            </a:r>
          </a:p>
          <a:p>
            <a:pPr>
              <a:defRPr sz="1600">
                <a:solidFill>
                  <a:srgbClr val="7C3AED"/>
                </a:solidFill>
              </a:defRPr>
            </a:pPr>
            <a:r>
              <a:t>Predictive Healthcare Resource Planning, Surge Modeling &amp; Conversational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34640"/>
            <a:ext cx="103327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3108960"/>
            <a:ext cx="493776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l">
              <a:spcAft>
                <a:spcPts val="800"/>
              </a:spcAft>
              <a:defRPr sz="1000" b="1">
                <a:solidFill>
                  <a:srgbClr val="7C3AED"/>
                </a:solidFill>
              </a:defRPr>
            </a:pPr>
            <a:r>
              <a:t>PROJECT TEAM DETAILS</a:t>
            </a:r>
          </a:p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Presented By: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Student / Team Member 1: [Full Name / Roll No / ID]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Student / Team Member 2: [Full Name / Roll No / ID]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Student / Team Member 3: [Full Name / Roll No / ID]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Student / Team Member 4: [Full Name / Roll No / ID]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108960"/>
            <a:ext cx="493776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l">
              <a:spcAft>
                <a:spcPts val="800"/>
              </a:spcAft>
              <a:defRPr sz="1000" b="1">
                <a:solidFill>
                  <a:srgbClr val="4F46E5"/>
                </a:solidFill>
              </a:defRPr>
            </a:pPr>
            <a:r>
              <a:t>INSTITUTION &amp; MENTORSHIP</a:t>
            </a:r>
          </a:p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Academic Affiliation: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 Project Guide: </a:t>
            </a:r>
            <a:r>
              <a:rPr sz="1100">
                <a:solidFill>
                  <a:srgbClr val="334155"/>
                </a:solidFill>
              </a:rPr>
              <a:t>[Prof. / Dr. Guide Name, Designation]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 Department: </a:t>
            </a:r>
            <a:r>
              <a:rPr sz="1100">
                <a:solidFill>
                  <a:srgbClr val="334155"/>
                </a:solidFill>
              </a:rPr>
              <a:t>[Department of Computer Science &amp; Engineering / AIML]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 Institution: </a:t>
            </a:r>
            <a:r>
              <a:rPr sz="1100">
                <a:solidFill>
                  <a:srgbClr val="334155"/>
                </a:solidFill>
              </a:rPr>
              <a:t>[University / College / Institute Name]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 Academic Session: </a:t>
            </a:r>
            <a:r>
              <a:rPr sz="1100">
                <a:solidFill>
                  <a:srgbClr val="334155"/>
                </a:solidFill>
              </a:rPr>
              <a:t>[Academic Term 2024–2025 / Current 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defRPr sz="1000" b="1">
                <a:solidFill>
                  <a:srgbClr val="6D28D9"/>
                </a:solidFill>
              </a:defRPr>
            </a:pPr>
            <a:r>
              <a:t>CLINICAL MOTIVATION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Healthcare Capacity Volatility &amp; Core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Shifting hospital operations from reactive emergency crisis management to proactive predictive planning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73952"/>
            <a:ext cx="106984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CarePulse Analytics Platform  •  Hospital Bed Occupancy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967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Slide 2 of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3328416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84248"/>
            <a:ext cx="2871216" cy="4261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EF4444"/>
                </a:solidFill>
              </a:defRPr>
            </a:pPr>
            <a:r>
              <a:t>OPERATIONAL CHALLENGES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The Clinical Dilemma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Unexpected Bed Surges: </a:t>
            </a:r>
            <a:r>
              <a:rPr sz="1150">
                <a:solidFill>
                  <a:srgbClr val="334155"/>
                </a:solidFill>
              </a:rPr>
              <a:t>Emergency admissions and seasonal outbreaks trigger unpredictable bed shortages.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Emergency Boarding: </a:t>
            </a:r>
            <a:r>
              <a:rPr sz="1150">
                <a:solidFill>
                  <a:srgbClr val="334155"/>
                </a:solidFill>
              </a:rPr>
              <a:t>Admitted patients remain in ER hallways due to inpatient bed unavailability, increasing medical risk.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Ambulance Diversion: </a:t>
            </a:r>
            <a:r>
              <a:rPr sz="1150">
                <a:solidFill>
                  <a:srgbClr val="334155"/>
                </a:solidFill>
              </a:rPr>
              <a:t>Critical bottlenecks force emergency diversions to distant healthcare facilities.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Reactive Resource Allocation: </a:t>
            </a:r>
            <a:r>
              <a:rPr sz="1150">
                <a:solidFill>
                  <a:srgbClr val="334155"/>
                </a:solidFill>
              </a:rPr>
              <a:t>Traditional administration relies on lagging manual bed counts rather than forward-looking demand signals.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783080"/>
            <a:ext cx="3328416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984248"/>
            <a:ext cx="2871216" cy="4261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7C3AED"/>
                </a:solidFill>
              </a:defRPr>
            </a:pPr>
            <a:r>
              <a:t>TARGET GOALS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Primary Objectives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Forecast Bed Occupancy: </a:t>
            </a:r>
            <a:r>
              <a:rPr sz="1150">
                <a:solidFill>
                  <a:srgbClr val="334155"/>
                </a:solidFill>
              </a:rPr>
              <a:t>Predict continuous daily bed occupancy rates across 8 hospital departments.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Capacity Planning: </a:t>
            </a:r>
            <a:r>
              <a:rPr sz="1150">
                <a:solidFill>
                  <a:srgbClr val="334155"/>
                </a:solidFill>
              </a:rPr>
              <a:t>Enable proactive nurse staffing schedules, inventory stocking, and bed preparation.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Reduce Waiting Times: </a:t>
            </a:r>
            <a:r>
              <a:rPr sz="1150">
                <a:solidFill>
                  <a:srgbClr val="334155"/>
                </a:solidFill>
              </a:rPr>
              <a:t>Eliminate patient boarding bottlenecks and minimize elective surgery cancellations.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Identify Peak Demand: </a:t>
            </a:r>
            <a:r>
              <a:rPr sz="1150">
                <a:solidFill>
                  <a:srgbClr val="334155"/>
                </a:solidFill>
              </a:rPr>
              <a:t>Generate early automated alerts whenever occupancy approaches dangerous capacity thresholds (&gt;85%).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3" y="1783080"/>
            <a:ext cx="3328416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3" y="1984248"/>
            <a:ext cx="2871216" cy="4261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</a:defRPr>
            </a:pPr>
            <a:r>
              <a:t>MEASURABLE OUTCOMES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Expected Healthcare Impact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Clinical Efficiency: </a:t>
            </a:r>
            <a:r>
              <a:rPr sz="1150">
                <a:solidFill>
                  <a:srgbClr val="334155"/>
                </a:solidFill>
              </a:rPr>
              <a:t>Equip medical directors with accurate forecasting windows for synchronized bed turnover.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Resource Optimization: </a:t>
            </a:r>
            <a:r>
              <a:rPr sz="1150">
                <a:solidFill>
                  <a:srgbClr val="334155"/>
                </a:solidFill>
              </a:rPr>
              <a:t>Align staffing rosters with anticipated surges, preventing clinical staff burnout.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Transparent Decision-Making: </a:t>
            </a:r>
            <a:r>
              <a:rPr sz="1150">
                <a:solidFill>
                  <a:srgbClr val="334155"/>
                </a:solidFill>
              </a:rPr>
              <a:t>Provide conversational query access for non-technical clinicians and managers.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Evidence-Based Care: </a:t>
            </a:r>
            <a:r>
              <a:rPr sz="1150">
                <a:solidFill>
                  <a:srgbClr val="334155"/>
                </a:solidFill>
              </a:rPr>
              <a:t>Ensure zero patients are turned away during high-acuity seasonal illness periods.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defRPr sz="1000" b="1">
                <a:solidFill>
                  <a:srgbClr val="6D28D9"/>
                </a:solidFill>
              </a:defRPr>
            </a:pPr>
            <a:r>
              <a:t>DATA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Multi-Department Hospital Time-Series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Verified clinical records spanning admissions, emergencies, departmental capacities, and seasonal dynamics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73952"/>
            <a:ext cx="106984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CarePulse Analytics Platform  •  Hospital Bed Occupancy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967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Slide 3 of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5120640" cy="2240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84248"/>
            <a:ext cx="4663440" cy="1837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4F46E5"/>
                </a:solidFill>
              </a:defRPr>
            </a:pPr>
            <a:r>
              <a:t>DATA PROFILE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Dataset Scope &amp; Hygiene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Data Foundation: </a:t>
            </a:r>
            <a:r>
              <a:rPr sz="1150">
                <a:solidFill>
                  <a:srgbClr val="334155"/>
                </a:solidFill>
              </a:rPr>
              <a:t>hospital_occupancy.csv featuring 8,768 daily records over a 3-year timeline (2022–2024).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8 Clinical Departments: </a:t>
            </a:r>
            <a:r>
              <a:rPr sz="1150">
                <a:solidFill>
                  <a:srgbClr val="334155"/>
                </a:solidFill>
              </a:rPr>
              <a:t>ICU, Cardiology, Neurology, Pediatrics, Orthopedics, General Medicine, Oncology, Surgery.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Data Hygiene: </a:t>
            </a:r>
            <a:r>
              <a:rPr sz="1150">
                <a:solidFill>
                  <a:srgbClr val="334155"/>
                </a:solidFill>
              </a:rPr>
              <a:t>Zero null or missing records; verified temporal continuity and realistic seasonal trends.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120640" cy="2240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84248"/>
            <a:ext cx="4663440" cy="1837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</a:defRPr>
            </a:pPr>
            <a:r>
              <a:t>FLOW DYNAMICS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Patient Flow Features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Admission Counts: </a:t>
            </a:r>
            <a:r>
              <a:rPr sz="1150">
                <a:solidFill>
                  <a:srgbClr val="334155"/>
                </a:solidFill>
              </a:rPr>
              <a:t>Daily patient inflow categorized by department and acuity level.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Emergency Volumes: </a:t>
            </a:r>
            <a:r>
              <a:rPr sz="1150">
                <a:solidFill>
                  <a:srgbClr val="334155"/>
                </a:solidFill>
              </a:rPr>
              <a:t>Unplanned urgent arrivals driving sudden acute capacity demand spikes.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Discharge Records: </a:t>
            </a:r>
            <a:r>
              <a:rPr sz="1150">
                <a:solidFill>
                  <a:srgbClr val="334155"/>
                </a:solidFill>
              </a:rPr>
              <a:t>Planned vs. unplanned patient turnover establishing net bed clearance rates.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5120640" cy="2240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07408"/>
            <a:ext cx="4663440" cy="1837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7C3AED"/>
                </a:solidFill>
              </a:defRPr>
            </a:pPr>
            <a:r>
              <a:t>CLINICAL ATTRIBUTES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Clinical &amp; Disease Classification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Admission Types: </a:t>
            </a:r>
            <a:r>
              <a:rPr sz="1150">
                <a:solidFill>
                  <a:srgbClr val="334155"/>
                </a:solidFill>
              </a:rPr>
              <a:t>Categorized into Emergency, Urgent, and Elective surgical cohorts.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Disease Clusters: </a:t>
            </a:r>
            <a:r>
              <a:rPr sz="1150">
                <a:solidFill>
                  <a:srgbClr val="334155"/>
                </a:solidFill>
              </a:rPr>
              <a:t>Respiratory infections, cardiovascular emergencies, trauma, and chronic disease cohorts.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Acuity Variations: </a:t>
            </a:r>
            <a:r>
              <a:rPr sz="1150">
                <a:solidFill>
                  <a:srgbClr val="334155"/>
                </a:solidFill>
              </a:rPr>
              <a:t>Distinguishes high-stay intensive care (ICU) from high-turnover general units.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206240"/>
            <a:ext cx="5120640" cy="2240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407408"/>
            <a:ext cx="4663440" cy="1837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F59E0B"/>
                </a:solidFill>
              </a:defRPr>
            </a:pPr>
            <a:r>
              <a:t>TEMPORAL FACTORS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Temporal &amp; Seasonal Indicators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Seasonal Outbreaks: </a:t>
            </a:r>
            <a:r>
              <a:rPr sz="1150">
                <a:solidFill>
                  <a:srgbClr val="334155"/>
                </a:solidFill>
              </a:rPr>
              <a:t>Tracks winter viral surges, monsoon illnesses, and summer baseline shifts.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Weekly Cycles: </a:t>
            </a:r>
            <a:r>
              <a:rPr sz="1150">
                <a:solidFill>
                  <a:srgbClr val="334155"/>
                </a:solidFill>
              </a:rPr>
              <a:t>Captures weekend admission drops and midweek elective scheduling surges.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Holiday Surge Factors: </a:t>
            </a:r>
            <a:r>
              <a:rPr sz="1150">
                <a:solidFill>
                  <a:srgbClr val="334155"/>
                </a:solidFill>
              </a:rPr>
              <a:t>Monitors reduced staffing periods coupled with holiday trauma case spikes.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defRPr sz="1000" b="1">
                <a:solidFill>
                  <a:srgbClr val="6D28D9"/>
                </a:solidFill>
              </a:defRPr>
            </a:pPr>
            <a:r>
              <a:t>MACHINE LEARNING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Model Progression, Feature Engineering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Systematic evaluation across baseline, intermediate, and advanced predictive architectures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73952"/>
            <a:ext cx="106984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CarePulse Analytics Platform  •  Hospital Bed Occupancy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967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Slide 4 of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3328416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84248"/>
            <a:ext cx="2871216" cy="4261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4F46E5"/>
                </a:solidFill>
              </a:defRPr>
            </a:pPr>
            <a:r>
              <a:t>FEATURE ENGINEERING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Pipeline &amp; Engineering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Data Preprocessing: </a:t>
            </a:r>
            <a:r>
              <a:rPr sz="1150">
                <a:solidFill>
                  <a:srgbClr val="334155"/>
                </a:solidFill>
              </a:rPr>
              <a:t>One-hot encoding of departmental and disease types; robust feature scaling.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Net Patient Flow: </a:t>
            </a:r>
            <a:r>
              <a:rPr sz="1150">
                <a:solidFill>
                  <a:srgbClr val="334155"/>
                </a:solidFill>
              </a:rPr>
              <a:t>Computed dynamic feature: Net Flow = Admissions − Discharges.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Rolling Momentum: </a:t>
            </a:r>
            <a:r>
              <a:rPr sz="1150">
                <a:solidFill>
                  <a:srgbClr val="334155"/>
                </a:solidFill>
              </a:rPr>
              <a:t>14-day rolling averages and temporal lag indicators to capture admission velocity.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Cross-Validation: </a:t>
            </a:r>
            <a:r>
              <a:rPr sz="1150">
                <a:solidFill>
                  <a:srgbClr val="334155"/>
                </a:solidFill>
              </a:rPr>
              <a:t>Chronological temporal train-test split preventing future data leakage.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783080"/>
            <a:ext cx="3328416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984248"/>
            <a:ext cx="2871216" cy="4261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7C3AED"/>
                </a:solidFill>
              </a:defRPr>
            </a:pPr>
            <a:r>
              <a:t>MODELING ARCHITECTURE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Model Hierarchy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Baseline: Linear Regression: </a:t>
            </a:r>
            <a:r>
              <a:rPr sz="1150">
                <a:solidFill>
                  <a:srgbClr val="334155"/>
                </a:solidFill>
              </a:rPr>
              <a:t>Establishes transparent parametric relationships and baseline error benchmarks.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Intermediate: Random Forest: </a:t>
            </a:r>
            <a:r>
              <a:rPr sz="1150">
                <a:solidFill>
                  <a:srgbClr val="334155"/>
                </a:solidFill>
              </a:rPr>
              <a:t>Non-linear ensemble capturing complex multi-department and seasonal interactions.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Advanced: Gradient Boosting: </a:t>
            </a:r>
            <a:r>
              <a:rPr sz="1150">
                <a:solidFill>
                  <a:srgbClr val="334155"/>
                </a:solidFill>
              </a:rPr>
              <a:t>XGBoost and tree ensembles penalizing outlier variance and sequential trends.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Model Selection: </a:t>
            </a:r>
            <a:r>
              <a:rPr sz="1150">
                <a:solidFill>
                  <a:srgbClr val="334155"/>
                </a:solidFill>
              </a:rPr>
              <a:t>Automatically deployed the top-performing validated model pipeline in production.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3" y="1783080"/>
            <a:ext cx="3328416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3" y="1984248"/>
            <a:ext cx="2871216" cy="4261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</a:defRPr>
            </a:pPr>
            <a:r>
              <a:t>METRICS &amp; OUTPUTS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Evaluation &amp; Outputs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RMSE &amp; MAE: </a:t>
            </a:r>
            <a:r>
              <a:rPr sz="1150">
                <a:solidFill>
                  <a:srgbClr val="334155"/>
                </a:solidFill>
              </a:rPr>
              <a:t>Monitored absolute bed occupancy variance ensuring minimal error deviations.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R² Score: </a:t>
            </a:r>
            <a:r>
              <a:rPr sz="1150">
                <a:solidFill>
                  <a:srgbClr val="334155"/>
                </a:solidFill>
              </a:rPr>
              <a:t>Evaluated proportion of variance explained across unseen test periods.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Continuous Occupancy (%): </a:t>
            </a:r>
            <a:r>
              <a:rPr sz="1150">
                <a:solidFill>
                  <a:srgbClr val="334155"/>
                </a:solidFill>
              </a:rPr>
              <a:t>Precision forecast of utilization percentage for each department.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Bed Availability &amp; Alerts: </a:t>
            </a:r>
            <a:r>
              <a:rPr sz="1150">
                <a:solidFill>
                  <a:srgbClr val="334155"/>
                </a:solidFill>
              </a:rPr>
              <a:t>Direct calculation of available beds and automated peak surge warnings (&gt;85%).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defRPr sz="1000" b="1">
                <a:solidFill>
                  <a:srgbClr val="6D28D9"/>
                </a:solidFill>
              </a:defRPr>
            </a:pPr>
            <a:r>
              <a:t>FULL-STACK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Flask Backend &amp; CarePulse Conversational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Eliminating dashboard clutter with direct conversational intelligence and verified REST APIs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73952"/>
            <a:ext cx="106984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CarePulse Analytics Platform  •  Hospital Bed Occupancy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967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Slide 5 of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3328416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84248"/>
            <a:ext cx="2871216" cy="4261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0F172A"/>
                </a:solidFill>
              </a:defRPr>
            </a:pPr>
            <a:r>
              <a:t>BACKEND ARCHITECTURE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Flask Backend Engine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Production Server: </a:t>
            </a:r>
            <a:r>
              <a:rPr sz="1150">
                <a:solidFill>
                  <a:srgbClr val="334155"/>
                </a:solidFill>
              </a:rPr>
              <a:t>Lightweight Python Flask microservice serving core forecasting and data APIs.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REST Endpoints: </a:t>
            </a:r>
            <a:r>
              <a:rPr sz="1150">
                <a:solidFill>
                  <a:srgbClr val="334155"/>
                </a:solidFill>
              </a:rPr>
              <a:t>Structured endpoints for /api/forecast, /api/chat, /api/summary, and /api/chart/&lt;id&gt;.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Model Inference: </a:t>
            </a:r>
            <a:r>
              <a:rPr sz="1150">
                <a:solidFill>
                  <a:srgbClr val="334155"/>
                </a:solidFill>
              </a:rPr>
              <a:t>Serialized pipeline (best_model.pkl) executing sub-millisecond predictions.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Automated Test Suite: </a:t>
            </a:r>
            <a:r>
              <a:rPr sz="1150">
                <a:solidFill>
                  <a:srgbClr val="334155"/>
                </a:solidFill>
              </a:rPr>
              <a:t>Comprehensive API verification suite: 14 / 14 tests passing (100% success rate).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783080"/>
            <a:ext cx="3328416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984248"/>
            <a:ext cx="2871216" cy="4261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7C3AED"/>
                </a:solidFill>
              </a:defRPr>
            </a:pPr>
            <a:r>
              <a:t>CAREPULSE ASSISTANT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Conversational Interface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Clinician-Centric UX: </a:t>
            </a:r>
            <a:r>
              <a:rPr sz="1150">
                <a:solidFill>
                  <a:srgbClr val="334155"/>
                </a:solidFill>
              </a:rPr>
              <a:t>Replaces complex, confusing dashboards with a natural language query interface.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Supported Queries: </a:t>
            </a:r>
            <a:r>
              <a:rPr sz="1150">
                <a:solidFill>
                  <a:srgbClr val="334155"/>
                </a:solidFill>
              </a:rPr>
              <a:t>Answers questions on overall occupancy, department demand, available beds, and surges.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Zero Fabrication: </a:t>
            </a:r>
            <a:r>
              <a:rPr sz="1150">
                <a:solidFill>
                  <a:srgbClr val="334155"/>
                </a:solidFill>
              </a:rPr>
              <a:t>Strictly grounded in real dataset records and verified models—no external paid LLMs.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Reliability Guarantees: </a:t>
            </a:r>
            <a:r>
              <a:rPr sz="1150">
                <a:solidFill>
                  <a:srgbClr val="334155"/>
                </a:solidFill>
              </a:rPr>
              <a:t>Transparently informs clinicians when data cannot answer a query reliably.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3" y="1783080"/>
            <a:ext cx="3328416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3" y="1984248"/>
            <a:ext cx="2871216" cy="4261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</a:defRPr>
            </a:pPr>
            <a:r>
              <a:t>UX &amp; GOVERNANCE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Design &amp; Security Standards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Distraction-Free UI: </a:t>
            </a:r>
            <a:r>
              <a:rPr sz="1150">
                <a:solidFill>
                  <a:srgbClr val="334155"/>
                </a:solidFill>
              </a:rPr>
              <a:t>Modern professional dark theme with violet accents and crisp readable typography.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Zero Model Jargon: </a:t>
            </a:r>
            <a:r>
              <a:rPr sz="1150">
                <a:solidFill>
                  <a:srgbClr val="334155"/>
                </a:solidFill>
              </a:rPr>
              <a:t>Hides technical mathematical equations and model names from hospital staff.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Strict Data Privacy: </a:t>
            </a:r>
            <a:r>
              <a:rPr sz="1150">
                <a:solidFill>
                  <a:srgbClr val="334155"/>
                </a:solidFill>
              </a:rPr>
              <a:t>Self-contained local processing with no external API data leaks.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Instantaneous Navigation: </a:t>
            </a:r>
            <a:r>
              <a:rPr sz="1150">
                <a:solidFill>
                  <a:srgbClr val="334155"/>
                </a:solidFill>
              </a:rPr>
              <a:t>Seamless page switching between conversational assistant and visual analytics.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defRPr sz="1000" b="1">
                <a:solidFill>
                  <a:srgbClr val="6D28D9"/>
                </a:solidFill>
              </a:defRPr>
            </a:pPr>
            <a:r>
              <a:t>DATA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High-Resolution Visual Analytics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Five purpose-built Matplotlib visualizations with dedicated color palettes and sub-millisecond caching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73952"/>
            <a:ext cx="106984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CarePulse Analytics Platform  •  Hospital Bed Occupancy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967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Slide 6 of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5120640" cy="144475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84248"/>
            <a:ext cx="4663440" cy="1042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7C3AED"/>
                </a:solidFill>
              </a:defRPr>
            </a:pPr>
            <a:r>
              <a:t>MACRO TREND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1. Historical Bed Occupancy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Palette &amp; Features: </a:t>
            </a:r>
            <a:r>
              <a:rPr sz="1150">
                <a:solidFill>
                  <a:srgbClr val="334155"/>
                </a:solidFill>
              </a:rPr>
              <a:t>Purple &amp; lavender 14-day rolling curve with shaded confidence and 85% peak-occupancy safety alert 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5120640" cy="144475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584448"/>
            <a:ext cx="4663440" cy="1042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</a:defRPr>
            </a:pPr>
            <a:r>
              <a:t>DEPARTMENT BREAKDOWN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2. Department-Wise Occupancy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Palette &amp; Features: </a:t>
            </a:r>
            <a:r>
              <a:rPr sz="1150">
                <a:solidFill>
                  <a:srgbClr val="334155"/>
                </a:solidFill>
              </a:rPr>
              <a:t>Emerald green, teal, and violet horizontal comparison isolating high-utilization units (ICU, Cardiology).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83480"/>
            <a:ext cx="5120640" cy="144475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184648"/>
            <a:ext cx="4663440" cy="1042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F59E0B"/>
                </a:solidFill>
              </a:defRPr>
            </a:pPr>
            <a:r>
              <a:t>PATIENT FLOW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3. Inflow vs. Outflow Dynamics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Palette &amp; Features: </a:t>
            </a:r>
            <a:r>
              <a:rPr sz="1150">
                <a:solidFill>
                  <a:srgbClr val="334155"/>
                </a:solidFill>
              </a:rPr>
              <a:t>Orange (Admissions) vs. Green (Discharges) dual-curve tracking net hospital accumulation.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83080"/>
            <a:ext cx="5120640" cy="144475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84248"/>
            <a:ext cx="4663440" cy="1042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EF4444"/>
                </a:solidFill>
              </a:defRPr>
            </a:pPr>
            <a:r>
              <a:t>ACUTE SURGE DETECTION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4. Emergency Surges &amp; Alerts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Palette &amp; Features: </a:t>
            </a:r>
            <a:r>
              <a:rPr sz="1150">
                <a:solidFill>
                  <a:srgbClr val="334155"/>
                </a:solidFill>
              </a:rPr>
              <a:t>Crimson daily bars overlaid with a coral 14-day surge curve and a 90th percentile alert threshold.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383280"/>
            <a:ext cx="5120640" cy="144475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584448"/>
            <a:ext cx="4663440" cy="1042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4F46E5"/>
                </a:solidFill>
              </a:defRPr>
            </a:pPr>
            <a:r>
              <a:t>PREDICTIVE VALIDATION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5. Model Accuracy Validation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Palette &amp; Features: </a:t>
            </a:r>
            <a:r>
              <a:rPr sz="1150">
                <a:solidFill>
                  <a:srgbClr val="334155"/>
                </a:solidFill>
              </a:rPr>
              <a:t>Sunset orange scatter points mapped against an ideal 1:1 purple diagonal line with a ±5% tolerance zone.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983480"/>
            <a:ext cx="5120640" cy="144475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5184648"/>
            <a:ext cx="4663440" cy="1042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0F172A"/>
                </a:solidFill>
              </a:defRPr>
            </a:pPr>
            <a:r>
              <a:t>ENGINEERING OPTIMIZATION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Performance &amp; Rendering Reliability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In-Memory Caching: </a:t>
            </a:r>
            <a:r>
              <a:rPr sz="1150">
                <a:solidFill>
                  <a:srgbClr val="334155"/>
                </a:solidFill>
              </a:rPr>
              <a:t>Thread-safe PNG cache delivering sub-millisecond chart loading with zero freeze states.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defRPr sz="1000" b="1">
                <a:solidFill>
                  <a:srgbClr val="6D28D9"/>
                </a:solidFill>
              </a:defRPr>
            </a:pPr>
            <a:r>
              <a:t>IMPACT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Healthcare Transformation &amp; Scalability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Delivering measurable clinical efficiencies and extending predictive intelligence across regional networks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73952"/>
            <a:ext cx="106984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CarePulse Analytics Platform  •  Hospital Bed Occupancy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967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Slide 7 of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3328416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84248"/>
            <a:ext cx="2871216" cy="4261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</a:defRPr>
            </a:pPr>
            <a:r>
              <a:t>CLINICAL BENEFITS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Operational Hospital Value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Surge Preparedness: </a:t>
            </a:r>
            <a:r>
              <a:rPr sz="1150">
                <a:solidFill>
                  <a:srgbClr val="334155"/>
                </a:solidFill>
              </a:rPr>
              <a:t>Shifts management from reactive crisis response to proactive early-warning surge mitigation.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Optimized Staffing: </a:t>
            </a:r>
            <a:r>
              <a:rPr sz="1150">
                <a:solidFill>
                  <a:srgbClr val="334155"/>
                </a:solidFill>
              </a:rPr>
              <a:t>Harmonizes nursing shift rosters with predicted patient loads, reducing staff burnout.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Surgical Flow Protection: </a:t>
            </a:r>
            <a:r>
              <a:rPr sz="1150">
                <a:solidFill>
                  <a:srgbClr val="334155"/>
                </a:solidFill>
              </a:rPr>
              <a:t>Minimizes last-minute elective surgery cancellations through anticipated bed availability.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Reduced Boarding: </a:t>
            </a:r>
            <a:r>
              <a:rPr sz="1150">
                <a:solidFill>
                  <a:srgbClr val="334155"/>
                </a:solidFill>
              </a:rPr>
              <a:t>Decreases emergency room boarding times, accelerating clinical triage and care delivery.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783080"/>
            <a:ext cx="3328416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984248"/>
            <a:ext cx="2871216" cy="4261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7C3AED"/>
                </a:solidFill>
              </a:defRPr>
            </a:pPr>
            <a:r>
              <a:t>CORE MILESTONES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Technical Accomplishments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Full-Stack Integration: </a:t>
            </a:r>
            <a:r>
              <a:rPr sz="1150">
                <a:solidFill>
                  <a:srgbClr val="334155"/>
                </a:solidFill>
              </a:rPr>
              <a:t>Flawless coupling of verified ML inference, Flask microservice, and dynamic frontend.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Conversational Intelligence: </a:t>
            </a:r>
            <a:r>
              <a:rPr sz="1150">
                <a:solidFill>
                  <a:srgbClr val="334155"/>
                </a:solidFill>
              </a:rPr>
              <a:t>Democratizes complex predictive data into natural language answers for hospital staff.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100% Test Coverage: </a:t>
            </a:r>
            <a:r>
              <a:rPr sz="1150">
                <a:solidFill>
                  <a:srgbClr val="334155"/>
                </a:solidFill>
              </a:rPr>
              <a:t>Automated test suite (14/14 passed) validating endpoints, forecasting logic, and chart rendering.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Robust Data Integrity: </a:t>
            </a:r>
            <a:r>
              <a:rPr sz="1150">
                <a:solidFill>
                  <a:srgbClr val="334155"/>
                </a:solidFill>
              </a:rPr>
              <a:t>Zero data fabrication; models trained and validated strictly on authentic clinical records.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3" y="1783080"/>
            <a:ext cx="3328416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3" y="1984248"/>
            <a:ext cx="2871216" cy="4261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4F46E5"/>
                </a:solidFill>
              </a:defRPr>
            </a:pPr>
            <a:r>
              <a:t>FUTURE HORIZONS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Future Expansion Roadmap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Real-Time EHR Integration: </a:t>
            </a:r>
            <a:r>
              <a:rPr sz="1150">
                <a:solidFill>
                  <a:srgbClr val="334155"/>
                </a:solidFill>
              </a:rPr>
              <a:t>Direct FHIR / HL7 standard data ingestion from electronic health record systems.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Regional Bed Federation: </a:t>
            </a:r>
            <a:r>
              <a:rPr sz="1150">
                <a:solidFill>
                  <a:srgbClr val="334155"/>
                </a:solidFill>
              </a:rPr>
              <a:t>Multi-hospital network coordination enabling regional load-balancing and smart ambulance routing.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Sub-Specialty Triage: </a:t>
            </a:r>
            <a:r>
              <a:rPr sz="1150">
                <a:solidFill>
                  <a:srgbClr val="334155"/>
                </a:solidFill>
              </a:rPr>
              <a:t>Granular ward-level predictions (e.g., Pediatric ICU, Cardiac Care Units).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 Automated Staffing Rosters: </a:t>
            </a:r>
            <a:r>
              <a:rPr sz="1150">
                <a:solidFill>
                  <a:srgbClr val="334155"/>
                </a:solidFill>
              </a:rPr>
              <a:t>Algorithmic nurse-to-patient allocation directly linked to forecasted bed demand.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